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70" r:id="rId8"/>
    <p:sldId id="261" r:id="rId9"/>
    <p:sldId id="262" r:id="rId10"/>
    <p:sldId id="263" r:id="rId11"/>
    <p:sldId id="264" r:id="rId12"/>
    <p:sldId id="268" r:id="rId13"/>
    <p:sldId id="26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9C88-5E0C-08B7-D11A-9B84D30BA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7C107-D8B0-43C3-0A22-DE9368D62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01592-8460-9208-9B4C-F68E1BF1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EDCD-5055-9185-8449-3F58A93A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A58EA-0556-4457-92BC-CE647BB8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6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9210-3E9D-B97D-9891-9183FA87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90696-F72D-79B5-B0B3-6C645D19C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7C0AF-656E-BD73-0972-367CFC75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5E30F-7F13-6597-A808-AA86B3D5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929C4-381E-AD93-46ED-5006230F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8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9D3E-D70E-C073-4D75-D0FA7435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F5AEE-55E0-AC5A-4AA6-9AE30F628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E2E72-9123-3F96-1C16-14319F58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858A-3B99-E596-64B6-8DCED618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CF98C-FCD0-7566-6845-8281D7DF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8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0512-653F-8CCB-0746-84D95E95B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B2AB-A439-A9BB-CFCF-4A1D8D3E3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598E7-C4D6-F435-53F4-A7C63E28D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A7BC4-69D5-2073-3DC2-4B49D3F8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34C88-ACFC-581D-FD77-0939B48B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745A-7907-A260-FC91-3E0A4BFA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88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0259-3AB4-D116-1208-F8BCD68A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89D62-967E-3D18-A195-2AF8F7635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C34C5-0941-BD89-1AC6-A7151900C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A6026-A48C-5CE5-39EE-BA17767E1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6869F-0608-9206-E8FC-01F811F06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B9422B-144C-7D46-89A3-0A29DF4C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A58FF-DC9C-7BB5-BB61-FE331B53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B627A-D611-303B-689C-950B4F78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08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0912-7CCD-BDEF-E8BE-78758F16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2B105-425D-D347-548C-20EEE326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21D67-7CAA-6CC1-BDAC-8B344A39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15C7C-E011-03AC-69D1-B5EA4543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1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61198C-A353-EC1D-A4CF-5ECFB911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B02B5-D906-DEC7-FF8E-E48473C0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3E056-0DC5-C34E-9281-5BAA0DA80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A5F8-69FA-23EB-6F75-210ADE0C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8447-10E7-84C8-0510-D332F6652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40E06-99B3-178E-2E12-104E57DAE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05C16-D48C-0362-F0B5-40FDA586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15DC1-E71F-B7BE-B96B-80108D92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9207-5715-35ED-5B50-2F9C10D5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8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26604-A6CF-2193-CF7F-8CB2CD0D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3D118-58C2-82C6-F09A-ADB0B47D9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C9F43-7E5D-16AA-D725-26BF116C9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744BF-69F3-8BD8-6399-F552D056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BFB6A-D07A-E3FA-9964-2319AFD7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51A22-5F35-902A-11F9-3AB88A06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1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FFBC-B8B6-8C5D-0F05-8167FA66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91231-C014-E7BE-E02D-E89FC0E3D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6D2A6-68D9-8EC1-957B-D35A9AC3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EF8F9-0A74-2B4D-020F-10F0DCC65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0BBFA-FFA4-1B30-D453-39BB4B54F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56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7AE58-0927-513D-A64A-69A068E7C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53DD2-6ABA-5034-25CD-EEB23B9E3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6E8C4-392D-0D5E-88C0-87CE10D3D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D0D1-E3C6-A023-CFD3-31E3D8FD2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7C6DE-3C03-8DF3-5A1B-AEDF106D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88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9F5DE-E7BE-AAAB-1296-A6C257AD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F30FB-89FD-0C66-7193-F1DB9CA7F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7A8A1-D1E2-72A6-3EF5-8389A584C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D3264-EC3C-4DC4-9247-2B59AFC3D41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9BC9D-EA2C-C014-7812-4F425C366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EEF32-2547-7794-7025-E9EB59CB4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92997-2F31-4466-9229-5F7BE16A6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61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9A78C72-1849-D5E3-48B6-F3CCFCFF3276}"/>
              </a:ext>
            </a:extLst>
          </p:cNvPr>
          <p:cNvSpPr/>
          <p:nvPr/>
        </p:nvSpPr>
        <p:spPr>
          <a:xfrm>
            <a:off x="296563" y="1394300"/>
            <a:ext cx="7568716" cy="54637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79E16C-C282-5ADA-A1FD-77125521843D}"/>
              </a:ext>
            </a:extLst>
          </p:cNvPr>
          <p:cNvSpPr txBox="1"/>
          <p:nvPr/>
        </p:nvSpPr>
        <p:spPr>
          <a:xfrm>
            <a:off x="844245" y="1907868"/>
            <a:ext cx="61496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Britannic Bold" panose="020B0903060703020204" pitchFamily="34" charset="0"/>
              </a:rPr>
              <a:t>MAVEN TOY SHOP ANALYSIS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5F5C32-15EC-90EF-8CD0-B719CECE67C3}"/>
              </a:ext>
            </a:extLst>
          </p:cNvPr>
          <p:cNvCxnSpPr>
            <a:cxnSpLocks/>
          </p:cNvCxnSpPr>
          <p:nvPr/>
        </p:nvCxnSpPr>
        <p:spPr>
          <a:xfrm>
            <a:off x="897187" y="5155206"/>
            <a:ext cx="62865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B542B06-0CB3-AAFF-ACB8-96B13A93D62C}"/>
              </a:ext>
            </a:extLst>
          </p:cNvPr>
          <p:cNvSpPr txBox="1"/>
          <p:nvPr/>
        </p:nvSpPr>
        <p:spPr>
          <a:xfrm>
            <a:off x="897187" y="4715778"/>
            <a:ext cx="2972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Bodoni MT Condensed" panose="02070606080606020203" pitchFamily="18" charset="0"/>
              </a:rPr>
              <a:t>TDI </a:t>
            </a:r>
            <a:r>
              <a:rPr lang="en-US" sz="2000" i="1" dirty="0" err="1">
                <a:latin typeface="Bodoni MT Condensed" panose="02070606080606020203" pitchFamily="18" charset="0"/>
              </a:rPr>
              <a:t>PowerBI</a:t>
            </a:r>
            <a:r>
              <a:rPr lang="en-US" sz="2000" i="1" dirty="0">
                <a:latin typeface="Bodoni MT Condensed" panose="02070606080606020203" pitchFamily="18" charset="0"/>
              </a:rPr>
              <a:t> Capstone Presentation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3B40FB-D015-10E9-80BF-8953F0D957E4}"/>
              </a:ext>
            </a:extLst>
          </p:cNvPr>
          <p:cNvSpPr txBox="1"/>
          <p:nvPr/>
        </p:nvSpPr>
        <p:spPr>
          <a:xfrm>
            <a:off x="844245" y="6278887"/>
            <a:ext cx="1614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By: Francis Agbo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C4E0A6-1463-AA27-CC13-B5557B3854B7}"/>
              </a:ext>
            </a:extLst>
          </p:cNvPr>
          <p:cNvSpPr/>
          <p:nvPr/>
        </p:nvSpPr>
        <p:spPr>
          <a:xfrm>
            <a:off x="7874000" y="1394300"/>
            <a:ext cx="3420813" cy="546369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3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DF2303-C40E-7767-FD40-3D1199D569C8}"/>
              </a:ext>
            </a:extLst>
          </p:cNvPr>
          <p:cNvSpPr/>
          <p:nvPr/>
        </p:nvSpPr>
        <p:spPr>
          <a:xfrm>
            <a:off x="0" y="0"/>
            <a:ext cx="717927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16A79E-8221-0116-105E-F450FAF8E6D5}"/>
              </a:ext>
            </a:extLst>
          </p:cNvPr>
          <p:cNvSpPr/>
          <p:nvPr/>
        </p:nvSpPr>
        <p:spPr>
          <a:xfrm>
            <a:off x="7179276" y="0"/>
            <a:ext cx="5012724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CABD08-F2B0-5B97-8347-FE1B0EB567AB}"/>
              </a:ext>
            </a:extLst>
          </p:cNvPr>
          <p:cNvSpPr/>
          <p:nvPr/>
        </p:nvSpPr>
        <p:spPr>
          <a:xfrm>
            <a:off x="654908" y="840260"/>
            <a:ext cx="7414054" cy="53751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EB1A0-C48B-0E16-02D0-88A7E373E886}"/>
              </a:ext>
            </a:extLst>
          </p:cNvPr>
          <p:cNvSpPr txBox="1"/>
          <p:nvPr/>
        </p:nvSpPr>
        <p:spPr>
          <a:xfrm>
            <a:off x="840260" y="2513478"/>
            <a:ext cx="5238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Project Overview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3B098FD-CB85-DA4B-34D5-A3C17C7F7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908" y="3221364"/>
            <a:ext cx="717927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sales, profit, inventory, and store performance for Maven Toy Shop across multiple cities in Mexico.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deliver data-driven insights for optimizing sales strategy, inventory management, and profitability.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an interactive dashboard to help executives make informed strategic and operational decisions.</a:t>
            </a:r>
          </a:p>
        </p:txBody>
      </p:sp>
    </p:spTree>
    <p:extLst>
      <p:ext uri="{BB962C8B-B14F-4D97-AF65-F5344CB8AC3E}">
        <p14:creationId xmlns:p14="http://schemas.microsoft.com/office/powerpoint/2010/main" val="1125727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6F35E-CC44-4643-9170-AA09CFC49E47}"/>
              </a:ext>
            </a:extLst>
          </p:cNvPr>
          <p:cNvSpPr txBox="1"/>
          <p:nvPr/>
        </p:nvSpPr>
        <p:spPr>
          <a:xfrm>
            <a:off x="3052379" y="181891"/>
            <a:ext cx="60872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Impact" panose="020B0806030902050204" pitchFamily="34" charset="0"/>
              </a:rPr>
              <a:t>Dashboard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63CD76-A71E-EB63-65BB-D08DCC8E0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23" y="1124874"/>
            <a:ext cx="9316750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9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10BC41-B831-16AA-9DBC-F41ABBD45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59" y="1177131"/>
            <a:ext cx="9326277" cy="5220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C5D8FF-45D0-E98D-F2F4-549F49B16E17}"/>
              </a:ext>
            </a:extLst>
          </p:cNvPr>
          <p:cNvSpPr txBox="1"/>
          <p:nvPr/>
        </p:nvSpPr>
        <p:spPr>
          <a:xfrm>
            <a:off x="3052379" y="169534"/>
            <a:ext cx="60872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Impact" panose="020B0806030902050204" pitchFamily="34" charset="0"/>
              </a:rPr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2803742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9B5C8C-2AEE-09F6-186F-266A6D4211E9}"/>
              </a:ext>
            </a:extLst>
          </p:cNvPr>
          <p:cNvSpPr/>
          <p:nvPr/>
        </p:nvSpPr>
        <p:spPr>
          <a:xfrm>
            <a:off x="6487250" y="753762"/>
            <a:ext cx="5482281" cy="481485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2DEDA-909D-706E-3EB0-16AFD3E13308}"/>
              </a:ext>
            </a:extLst>
          </p:cNvPr>
          <p:cNvSpPr txBox="1"/>
          <p:nvPr/>
        </p:nvSpPr>
        <p:spPr>
          <a:xfrm>
            <a:off x="741381" y="753762"/>
            <a:ext cx="28091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Key </a:t>
            </a:r>
          </a:p>
          <a:p>
            <a:r>
              <a:rPr lang="en-US" sz="4000" b="1" dirty="0">
                <a:latin typeface="Impact" panose="020B0806030902050204" pitchFamily="34" charset="0"/>
              </a:rPr>
              <a:t>Objectives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4E2E63-A1A7-75F4-34B5-810F0E29F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19" y="2541537"/>
            <a:ext cx="587353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</a:t>
            </a:r>
            <a:r>
              <a:rPr lang="en-US" altLang="en-US" sz="2000" dirty="0"/>
              <a:t>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tore performance across locations &amp; cities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roduct category profitability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Lost sales if any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Profit margin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Inventory optimization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E6E423-20D3-7743-F288-CF254E232280}"/>
              </a:ext>
            </a:extLst>
          </p:cNvPr>
          <p:cNvCxnSpPr>
            <a:cxnSpLocks/>
          </p:cNvCxnSpPr>
          <p:nvPr/>
        </p:nvCxnSpPr>
        <p:spPr>
          <a:xfrm>
            <a:off x="383059" y="753762"/>
            <a:ext cx="0" cy="48148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97A5F6-2B18-54F5-E2CF-6F1D678218E8}"/>
              </a:ext>
            </a:extLst>
          </p:cNvPr>
          <p:cNvCxnSpPr>
            <a:cxnSpLocks/>
          </p:cNvCxnSpPr>
          <p:nvPr/>
        </p:nvCxnSpPr>
        <p:spPr>
          <a:xfrm flipH="1">
            <a:off x="741381" y="5568616"/>
            <a:ext cx="442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0FACC3-38E3-A701-E332-5B321211B51A}"/>
              </a:ext>
            </a:extLst>
          </p:cNvPr>
          <p:cNvCxnSpPr>
            <a:cxnSpLocks/>
          </p:cNvCxnSpPr>
          <p:nvPr/>
        </p:nvCxnSpPr>
        <p:spPr>
          <a:xfrm flipH="1">
            <a:off x="741381" y="4942540"/>
            <a:ext cx="442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322108-5F42-E980-D396-4ADA40E2060A}"/>
              </a:ext>
            </a:extLst>
          </p:cNvPr>
          <p:cNvCxnSpPr>
            <a:cxnSpLocks/>
          </p:cNvCxnSpPr>
          <p:nvPr/>
        </p:nvCxnSpPr>
        <p:spPr>
          <a:xfrm flipH="1">
            <a:off x="741381" y="4287633"/>
            <a:ext cx="442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9FAF33-2F2B-0544-30E7-E843330CB20F}"/>
              </a:ext>
            </a:extLst>
          </p:cNvPr>
          <p:cNvCxnSpPr>
            <a:cxnSpLocks/>
          </p:cNvCxnSpPr>
          <p:nvPr/>
        </p:nvCxnSpPr>
        <p:spPr>
          <a:xfrm flipH="1">
            <a:off x="741381" y="3694508"/>
            <a:ext cx="442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B888B7-8FA6-EC7A-B64F-1111CB0879BC}"/>
              </a:ext>
            </a:extLst>
          </p:cNvPr>
          <p:cNvCxnSpPr>
            <a:cxnSpLocks/>
          </p:cNvCxnSpPr>
          <p:nvPr/>
        </p:nvCxnSpPr>
        <p:spPr>
          <a:xfrm flipH="1">
            <a:off x="741381" y="3051957"/>
            <a:ext cx="442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DC17B9-0D68-4EB4-1BF0-43ADA7092806}"/>
              </a:ext>
            </a:extLst>
          </p:cNvPr>
          <p:cNvCxnSpPr>
            <a:cxnSpLocks/>
          </p:cNvCxnSpPr>
          <p:nvPr/>
        </p:nvCxnSpPr>
        <p:spPr>
          <a:xfrm flipH="1">
            <a:off x="741381" y="2479591"/>
            <a:ext cx="442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01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6A5BEF-A9D2-96AD-1DCC-49FFEFD3096E}"/>
              </a:ext>
            </a:extLst>
          </p:cNvPr>
          <p:cNvSpPr/>
          <p:nvPr/>
        </p:nvSpPr>
        <p:spPr>
          <a:xfrm>
            <a:off x="4460789" y="0"/>
            <a:ext cx="7731211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C4FC37-26D9-970B-2331-2C9A72C299E0}"/>
              </a:ext>
            </a:extLst>
          </p:cNvPr>
          <p:cNvSpPr/>
          <p:nvPr/>
        </p:nvSpPr>
        <p:spPr>
          <a:xfrm>
            <a:off x="432486" y="543697"/>
            <a:ext cx="6128952" cy="5857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397F8-F839-2A0F-AFF3-4446C7DFA6FB}"/>
              </a:ext>
            </a:extLst>
          </p:cNvPr>
          <p:cNvSpPr txBox="1"/>
          <p:nvPr/>
        </p:nvSpPr>
        <p:spPr>
          <a:xfrm>
            <a:off x="7004222" y="3193018"/>
            <a:ext cx="449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dataset consist of multiple interconnected tables representing stores, sales, products and inventory performance all related with foreign keys.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60257-C9C1-A71F-6992-62A335867FDC}"/>
              </a:ext>
            </a:extLst>
          </p:cNvPr>
          <p:cNvSpPr txBox="1"/>
          <p:nvPr/>
        </p:nvSpPr>
        <p:spPr>
          <a:xfrm>
            <a:off x="7004222" y="2295377"/>
            <a:ext cx="4547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Dataset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775AEA-5BDB-05D6-E404-33BD0A151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85" y="543696"/>
            <a:ext cx="6128951" cy="58571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298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D22EC-72E7-8ADC-9ED5-75086A5B9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8F8503-58E0-AFC3-5048-91AE2A8CDF13}"/>
              </a:ext>
            </a:extLst>
          </p:cNvPr>
          <p:cNvSpPr/>
          <p:nvPr/>
        </p:nvSpPr>
        <p:spPr>
          <a:xfrm>
            <a:off x="4460789" y="0"/>
            <a:ext cx="7731211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BC1FA0-E3DD-B220-9101-3FC560790E27}"/>
              </a:ext>
            </a:extLst>
          </p:cNvPr>
          <p:cNvSpPr/>
          <p:nvPr/>
        </p:nvSpPr>
        <p:spPr>
          <a:xfrm>
            <a:off x="432486" y="543697"/>
            <a:ext cx="6128952" cy="585710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17B1A-219A-44DA-1FF1-7224479968D4}"/>
              </a:ext>
            </a:extLst>
          </p:cNvPr>
          <p:cNvSpPr txBox="1"/>
          <p:nvPr/>
        </p:nvSpPr>
        <p:spPr>
          <a:xfrm>
            <a:off x="7004222" y="3193018"/>
            <a:ext cx="449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process of cleaning, analysis and visualization was all carried out using Power BI.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71BE2-5F7F-15BE-4A0D-6BF9730A714A}"/>
              </a:ext>
            </a:extLst>
          </p:cNvPr>
          <p:cNvSpPr txBox="1"/>
          <p:nvPr/>
        </p:nvSpPr>
        <p:spPr>
          <a:xfrm>
            <a:off x="7004222" y="2295377"/>
            <a:ext cx="4547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816407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6A0EBE9-23E7-CC6E-FCBF-7D1F74739257}"/>
              </a:ext>
            </a:extLst>
          </p:cNvPr>
          <p:cNvSpPr/>
          <p:nvPr/>
        </p:nvSpPr>
        <p:spPr>
          <a:xfrm>
            <a:off x="343930" y="358346"/>
            <a:ext cx="11504139" cy="614130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EE3062-E0B2-B6D3-B441-37C5B692AEAF}"/>
              </a:ext>
            </a:extLst>
          </p:cNvPr>
          <p:cNvSpPr txBox="1"/>
          <p:nvPr/>
        </p:nvSpPr>
        <p:spPr>
          <a:xfrm>
            <a:off x="739348" y="824923"/>
            <a:ext cx="1534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KPIs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9268D8-2DF7-40D8-B2F4-697BE0CC0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555" y="1957916"/>
            <a:ext cx="2171410" cy="1587844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379D31-917B-CC4C-C5F8-9329F843A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09" y="1957915"/>
            <a:ext cx="2163383" cy="158784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153354-F6CB-AD55-7227-270C8CB0B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717" y="1957915"/>
            <a:ext cx="2193378" cy="1587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5F801A-5D15-EAF9-0917-8F479E69E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348" y="4228784"/>
            <a:ext cx="2198552" cy="1587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FD4F71-10FC-24B6-B26A-AB29E61ECA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044" y="4228784"/>
            <a:ext cx="2179921" cy="1587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74BC77-3AE7-EACB-0EF3-31BDDD2C4F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717" y="4254184"/>
            <a:ext cx="2163383" cy="156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52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8BE796-889E-CF90-F143-05290A0B723C}"/>
              </a:ext>
            </a:extLst>
          </p:cNvPr>
          <p:cNvSpPr/>
          <p:nvPr/>
        </p:nvSpPr>
        <p:spPr>
          <a:xfrm>
            <a:off x="238897" y="1572860"/>
            <a:ext cx="11714206" cy="45772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A5E33-4560-3021-087D-FBADFA86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632" y="1572860"/>
            <a:ext cx="5928471" cy="45772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CAAE76-50F9-3FE7-8741-61DF54B17DE1}"/>
              </a:ext>
            </a:extLst>
          </p:cNvPr>
          <p:cNvSpPr txBox="1"/>
          <p:nvPr/>
        </p:nvSpPr>
        <p:spPr>
          <a:xfrm>
            <a:off x="350623" y="707887"/>
            <a:ext cx="3010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Key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31C63-550F-4375-7B9E-6AF78FA8EBA4}"/>
              </a:ext>
            </a:extLst>
          </p:cNvPr>
          <p:cNvSpPr txBox="1"/>
          <p:nvPr/>
        </p:nvSpPr>
        <p:spPr>
          <a:xfrm>
            <a:off x="350623" y="2584214"/>
            <a:ext cx="57984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Sales by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Downtown: £8.22M (56.9%)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Commercial: £3.28M (22.7%)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Residential: £1.66M (11.47%)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Airport: £1.29M (8.93%)</a:t>
            </a:r>
          </a:p>
        </p:txBody>
      </p:sp>
    </p:spTree>
    <p:extLst>
      <p:ext uri="{BB962C8B-B14F-4D97-AF65-F5344CB8AC3E}">
        <p14:creationId xmlns:p14="http://schemas.microsoft.com/office/powerpoint/2010/main" val="909082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D80E8B-3B4D-A019-28AE-73827923AE2C}"/>
              </a:ext>
            </a:extLst>
          </p:cNvPr>
          <p:cNvSpPr/>
          <p:nvPr/>
        </p:nvSpPr>
        <p:spPr>
          <a:xfrm>
            <a:off x="184571" y="1711968"/>
            <a:ext cx="11714206" cy="45772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9D3EC-D763-2AFE-DA94-42876C3AE279}"/>
              </a:ext>
            </a:extLst>
          </p:cNvPr>
          <p:cNvSpPr txBox="1"/>
          <p:nvPr/>
        </p:nvSpPr>
        <p:spPr>
          <a:xfrm>
            <a:off x="280340" y="2504740"/>
            <a:ext cx="429987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Top 5 Cites Ranked By Sales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Cuidad</a:t>
            </a:r>
            <a:r>
              <a:rPr lang="en-US" sz="2800" dirty="0"/>
              <a:t> de Mexico (£1.65M)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Guadalajara (£1.32M)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Monterrey (£1.26M)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Hermosillo (£0.90M)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Guanajuato (£0.87M)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5BB51-2D08-E566-99B0-D983EAF41DEC}"/>
              </a:ext>
            </a:extLst>
          </p:cNvPr>
          <p:cNvSpPr txBox="1"/>
          <p:nvPr/>
        </p:nvSpPr>
        <p:spPr>
          <a:xfrm>
            <a:off x="376109" y="568779"/>
            <a:ext cx="3010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Key Findings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82F1B-0ACB-1931-26A9-760B2AE53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987" y="1711968"/>
            <a:ext cx="7222789" cy="457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5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C0838A-029D-0860-377F-B47C5BE59823}"/>
              </a:ext>
            </a:extLst>
          </p:cNvPr>
          <p:cNvSpPr/>
          <p:nvPr/>
        </p:nvSpPr>
        <p:spPr>
          <a:xfrm>
            <a:off x="257432" y="1309817"/>
            <a:ext cx="11677135" cy="51898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67DF1E-1574-D78C-8CE9-FD994B6E6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627" y="1309817"/>
            <a:ext cx="6855940" cy="5189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9DD7A9-5C8A-5B7B-8A16-4260CD970AF0}"/>
              </a:ext>
            </a:extLst>
          </p:cNvPr>
          <p:cNvSpPr txBox="1"/>
          <p:nvPr/>
        </p:nvSpPr>
        <p:spPr>
          <a:xfrm>
            <a:off x="499676" y="482282"/>
            <a:ext cx="3010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Key Findings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68228-0F30-858B-5ED6-40BE0E99250F}"/>
              </a:ext>
            </a:extLst>
          </p:cNvPr>
          <p:cNvSpPr txBox="1"/>
          <p:nvPr/>
        </p:nvSpPr>
        <p:spPr>
          <a:xfrm>
            <a:off x="388466" y="2427408"/>
            <a:ext cx="499213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Product By 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Toys: (£39.00)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Sports &amp; Outdoors (£35.00)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Arts &amp; Crafts (£33.00)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Games: (£32.00)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Electronics: (£19.00)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72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180C7-F06A-3B01-3A4F-BF0711E7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805B59-AD3F-90D4-8445-D4E4D9152700}"/>
              </a:ext>
            </a:extLst>
          </p:cNvPr>
          <p:cNvSpPr/>
          <p:nvPr/>
        </p:nvSpPr>
        <p:spPr>
          <a:xfrm>
            <a:off x="257432" y="1309817"/>
            <a:ext cx="11677135" cy="51898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BA670-3F38-A8D2-F84E-BFD7AA0DA852}"/>
              </a:ext>
            </a:extLst>
          </p:cNvPr>
          <p:cNvSpPr txBox="1"/>
          <p:nvPr/>
        </p:nvSpPr>
        <p:spPr>
          <a:xfrm>
            <a:off x="499676" y="482282"/>
            <a:ext cx="3010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Key Findings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8E7F39-BB9A-5B49-6824-DB487CB85CF7}"/>
              </a:ext>
            </a:extLst>
          </p:cNvPr>
          <p:cNvSpPr txBox="1"/>
          <p:nvPr/>
        </p:nvSpPr>
        <p:spPr>
          <a:xfrm>
            <a:off x="672670" y="1470455"/>
            <a:ext cx="728508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Sales Trend: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Moderate growth early in the year.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Decline between August–September.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Recovery from October through December.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696A0B-95C2-67FC-3A0B-971D2172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2" y="3545000"/>
            <a:ext cx="11677135" cy="295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39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B753D1-292F-772B-51C0-F6B93E77447B}"/>
              </a:ext>
            </a:extLst>
          </p:cNvPr>
          <p:cNvSpPr/>
          <p:nvPr/>
        </p:nvSpPr>
        <p:spPr>
          <a:xfrm>
            <a:off x="0" y="0"/>
            <a:ext cx="5548184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00CC6-B667-D129-22F3-2DAFB66EA512}"/>
              </a:ext>
            </a:extLst>
          </p:cNvPr>
          <p:cNvSpPr txBox="1"/>
          <p:nvPr/>
        </p:nvSpPr>
        <p:spPr>
          <a:xfrm>
            <a:off x="6009503" y="945678"/>
            <a:ext cx="53793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Insights and Recommendations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058240B-7F4E-B7A5-4530-9F9F13B9C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503" y="2269117"/>
            <a:ext cx="674678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Prioritize Toys &amp; Sports promotions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Reassess Electronics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Expand Downtown stores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Boost Airport store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procurement efficiency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Focus campaigns on high-sales months and adjust inventory pre-emptively.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56661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176CFA-6432-B198-9B41-53581763BCCD}"/>
              </a:ext>
            </a:extLst>
          </p:cNvPr>
          <p:cNvSpPr txBox="1"/>
          <p:nvPr/>
        </p:nvSpPr>
        <p:spPr>
          <a:xfrm>
            <a:off x="473675" y="1618861"/>
            <a:ext cx="28502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Impact" panose="020B0806030902050204" pitchFamily="34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772A2E-4598-CBF4-0719-07225D46A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675" y="2469151"/>
            <a:ext cx="5420498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analysis reveals that Downtown stores and high-margin categories like Toys and Sports &amp; Outdoors are the core drivers of revenue and profitability for Maven Toy Shop.</a:t>
            </a:r>
            <a:br>
              <a:rPr lang="en-US" dirty="0"/>
            </a:br>
            <a:r>
              <a:rPr lang="en-US" dirty="0"/>
              <a:t>Meanwhile, Electronics and Airport stores represent areas with potential for strategic improvement through pricing, promotion, and customer targeting.</a:t>
            </a:r>
          </a:p>
          <a:p>
            <a:r>
              <a:rPr lang="en-US" dirty="0"/>
              <a:t>Strong inventory performance ensured no lost sales, reflecting operational efficiency and demand alignment.</a:t>
            </a:r>
            <a:br>
              <a:rPr lang="en-US" dirty="0"/>
            </a:br>
            <a:r>
              <a:rPr lang="en-US" dirty="0"/>
              <a:t>Moving forward, focusing on high-performing segments and refining underperforming areas will enable Maven Toy Shop to maximize profit potential, strengthen market presence, and sustain long-term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CB251-7F4D-D97C-91EC-180CFDC06119}"/>
              </a:ext>
            </a:extLst>
          </p:cNvPr>
          <p:cNvSpPr/>
          <p:nvPr/>
        </p:nvSpPr>
        <p:spPr>
          <a:xfrm>
            <a:off x="6005384" y="0"/>
            <a:ext cx="6186616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9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5768</TotalTime>
  <Words>381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Bodoni MT Condensed</vt:lpstr>
      <vt:lpstr>Britannic Bold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Blaise</dc:creator>
  <cp:lastModifiedBy>Francis Blaise</cp:lastModifiedBy>
  <cp:revision>5</cp:revision>
  <dcterms:created xsi:type="dcterms:W3CDTF">2025-09-24T22:45:29Z</dcterms:created>
  <dcterms:modified xsi:type="dcterms:W3CDTF">2025-10-08T00:58:34Z</dcterms:modified>
</cp:coreProperties>
</file>